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q9oW0pU2BDFavkyxUMoORHYom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525abad0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f525abad0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f525abad0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3C7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F96167">
              <a:alpha val="2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-1463040" y="4572000"/>
            <a:ext cx="4023360" cy="4023360"/>
          </a:xfrm>
          <a:prstGeom prst="ellipse">
            <a:avLst/>
          </a:prstGeom>
          <a:solidFill>
            <a:srgbClr val="F9E795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CO1 ASSESSMENT TOOL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2875954" y="2834700"/>
            <a:ext cx="64401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Cafeteria Token System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118300" y="4023300"/>
            <a:ext cx="7955400" cy="23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D6"/>
              </a:buClr>
              <a:buSzPts val="1200"/>
              <a:buFont typeface="Calibri"/>
              <a:buNone/>
            </a:pPr>
            <a:r>
              <a:rPr i="0" lang="en-US" sz="1800" u="none" cap="none" strike="noStrike">
                <a:solidFill>
                  <a:srgbClr val="F9E79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S Susmitha</a:t>
            </a:r>
            <a:r>
              <a:rPr lang="en-US" sz="1800">
                <a:solidFill>
                  <a:srgbClr val="F9E79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i="0" lang="en-US" sz="1800" u="none" cap="none" strike="noStrike">
                <a:solidFill>
                  <a:srgbClr val="F9E79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Reg. No: 192571068</a:t>
            </a:r>
            <a:r>
              <a:rPr lang="en-US" sz="1800">
                <a:solidFill>
                  <a:srgbClr val="F9E79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Faculty</a:t>
            </a:r>
            <a:r>
              <a:rPr lang="en-US" sz="1800">
                <a:solidFill>
                  <a:srgbClr val="F9E79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Dr. M. Shakila	</a:t>
            </a:r>
            <a:endParaRPr sz="1800">
              <a:solidFill>
                <a:srgbClr val="F9E79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D6"/>
              </a:buClr>
              <a:buSzPts val="1200"/>
              <a:buFont typeface="Calibri"/>
              <a:buNone/>
            </a:pPr>
            <a:r>
              <a:rPr lang="en-US" sz="1800">
                <a:solidFill>
                  <a:srgbClr val="F9E79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Course: Data Structures		Course Code: CSA0313</a:t>
            </a:r>
            <a:endParaRPr i="0" sz="1800" u="none" cap="none" strike="noStrike">
              <a:solidFill>
                <a:srgbClr val="F9E79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fmla="val 20000" name="adj"/>
            </a:avLst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PROBLEM IDENTIFICATION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9601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7293D"/>
                </a:solidFill>
                <a:latin typeface="Cambria"/>
                <a:ea typeface="Cambria"/>
                <a:cs typeface="Cambria"/>
                <a:sym typeface="Cambria"/>
              </a:rPr>
              <a:t>The Real-World Scenario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600200"/>
            <a:ext cx="67665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A cafeteria token system must serve customers strictly in the order they arrive — the first person to take a token must be the first person served.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2697480"/>
            <a:ext cx="201168" cy="20116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822960" y="2587752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Strict arrival order:  </a:t>
            </a:r>
            <a:r>
              <a:rPr b="0" i="0" lang="en-US" sz="13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No customer should be served out of turn.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57200" y="3355848"/>
            <a:ext cx="201168" cy="20116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822960" y="32461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Dynamic join / leave:  </a:t>
            </a:r>
            <a:r>
              <a:rPr b="0" i="0" lang="en-US" sz="13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New customers keep arriving; served customers keep leaving.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" y="4014216"/>
            <a:ext cx="201168" cy="20116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822960" y="390448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Fairness guarantee:  </a:t>
            </a:r>
            <a:r>
              <a:rPr b="0" i="0" lang="en-US" sz="13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The rule must be simple, transparent, and non-negotiable.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57200" y="4672584"/>
            <a:ext cx="201168" cy="20116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22960" y="4562856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Real-time speed:  </a:t>
            </a:r>
            <a:r>
              <a:rPr b="0" i="0" lang="en-US" sz="13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Issuing and calling a token must be near-instant, even at peak hours.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589520" y="1554480"/>
            <a:ext cx="4114800" cy="4160520"/>
          </a:xfrm>
          <a:prstGeom prst="roundRect">
            <a:avLst>
              <a:gd fmla="val 2667" name="adj"/>
            </a:avLst>
          </a:prstGeom>
          <a:solidFill>
            <a:srgbClr val="F7F8FC"/>
          </a:solidFill>
          <a:ln cap="flat" cmpd="sng" w="12700">
            <a:solidFill>
              <a:srgbClr val="E3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7772400" y="173736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ARRIVAL 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001000" y="2286000"/>
            <a:ext cx="502920" cy="50292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8001000" y="2286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686800" y="235915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served next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8001000" y="3063240"/>
            <a:ext cx="502920" cy="502920"/>
          </a:xfrm>
          <a:prstGeom prst="ellipse">
            <a:avLst/>
          </a:prstGeom>
          <a:solidFill>
            <a:srgbClr val="2F3C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8001000" y="30632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686800" y="313639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waiting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8001000" y="3840480"/>
            <a:ext cx="502920" cy="502920"/>
          </a:xfrm>
          <a:prstGeom prst="ellipse">
            <a:avLst/>
          </a:prstGeom>
          <a:solidFill>
            <a:srgbClr val="2F3C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8001000" y="38404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686800" y="391363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waiting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8001000" y="4617720"/>
            <a:ext cx="502920" cy="502920"/>
          </a:xfrm>
          <a:prstGeom prst="ellipse">
            <a:avLst/>
          </a:prstGeom>
          <a:solidFill>
            <a:srgbClr val="2F3C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8001000" y="46177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8686800" y="469087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waiting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" name="Google Shape;52;p2"/>
          <p:cNvCxnSpPr/>
          <p:nvPr/>
        </p:nvCxnSpPr>
        <p:spPr>
          <a:xfrm>
            <a:off x="8247888" y="2788920"/>
            <a:ext cx="0" cy="2423160"/>
          </a:xfrm>
          <a:prstGeom prst="straightConnector1">
            <a:avLst/>
          </a:prstGeom>
          <a:noFill/>
          <a:ln cap="flat" cmpd="sng" w="25400">
            <a:solidFill>
              <a:srgbClr val="F9E795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3" name="Google Shape;53;p2"/>
          <p:cNvSpPr/>
          <p:nvPr/>
        </p:nvSpPr>
        <p:spPr>
          <a:xfrm>
            <a:off x="7772400" y="530352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Counter serves only the front of the 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fmla="val 20000" name="adj"/>
            </a:avLst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PROBLEM IDENTIFICATION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7293D"/>
                </a:solidFill>
                <a:latin typeface="Cambria"/>
                <a:ea typeface="Cambria"/>
                <a:cs typeface="Cambria"/>
                <a:sym typeface="Cambria"/>
              </a:rPr>
              <a:t>Choosing the Right Structure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16002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Any linear structure could technically hold the tokens — but only one preserves fairness by construction.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2331720"/>
            <a:ext cx="3429000" cy="3566160"/>
          </a:xfrm>
          <a:prstGeom prst="roundRect">
            <a:avLst>
              <a:gd fmla="val 2667" name="adj"/>
            </a:avLst>
          </a:prstGeom>
          <a:solidFill>
            <a:srgbClr val="F7F8FC"/>
          </a:solidFill>
          <a:ln cap="flat" cmpd="sng" w="12700">
            <a:solidFill>
              <a:srgbClr val="E3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85800" y="25603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F3C7E"/>
                </a:solidFill>
                <a:latin typeface="Cambria"/>
                <a:ea typeface="Cambria"/>
                <a:cs typeface="Cambria"/>
                <a:sym typeface="Cambria"/>
              </a:rPr>
              <a:t>Plain Array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85800" y="315468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Access:  </a:t>
            </a:r>
            <a:r>
              <a:rPr b="0" i="0" lang="en-US" sz="12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Random access (by index)</a:t>
            </a:r>
            <a:br>
              <a:rPr b="0" i="0" lang="en-US" sz="12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Order:  </a:t>
            </a:r>
            <a:r>
              <a:rPr b="0" i="0" lang="en-US" sz="12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No built-in ordering rule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85800" y="4937760"/>
            <a:ext cx="2971800" cy="731520"/>
          </a:xfrm>
          <a:prstGeom prst="roundRect">
            <a:avLst>
              <a:gd fmla="val 10000" name="adj"/>
            </a:avLst>
          </a:prstGeom>
          <a:solidFill>
            <a:srgbClr val="FC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822960" y="498348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2E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2E2E"/>
                </a:solidFill>
                <a:latin typeface="Calibri"/>
                <a:ea typeface="Calibri"/>
                <a:cs typeface="Calibri"/>
                <a:sym typeface="Calibri"/>
              </a:rPr>
              <a:t>Manual bookkeeping needed to track “who's next”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114800" y="2331720"/>
            <a:ext cx="3429000" cy="3566160"/>
          </a:xfrm>
          <a:prstGeom prst="roundRect">
            <a:avLst>
              <a:gd fmla="val 2667" name="adj"/>
            </a:avLst>
          </a:prstGeom>
          <a:solidFill>
            <a:srgbClr val="F7F8FC"/>
          </a:solidFill>
          <a:ln cap="flat" cmpd="sng" w="12700">
            <a:solidFill>
              <a:srgbClr val="E3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343400" y="25603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F3C7E"/>
                </a:solidFill>
                <a:latin typeface="Cambria"/>
                <a:ea typeface="Cambria"/>
                <a:cs typeface="Cambria"/>
                <a:sym typeface="Cambria"/>
              </a:rPr>
              <a:t>Stack (LIFO)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343400" y="315468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Access:  </a:t>
            </a:r>
            <a:r>
              <a:rPr b="0" i="0" lang="en-US" sz="12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Insert/remove at same end</a:t>
            </a:r>
            <a:br>
              <a:rPr b="0" i="0" lang="en-US" sz="12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Order:  </a:t>
            </a:r>
            <a:r>
              <a:rPr b="0" i="0" lang="en-US" sz="12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Last customer in is served first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343400" y="4937760"/>
            <a:ext cx="2971800" cy="731520"/>
          </a:xfrm>
          <a:prstGeom prst="roundRect">
            <a:avLst>
              <a:gd fmla="val 10000" name="adj"/>
            </a:avLst>
          </a:prstGeom>
          <a:solidFill>
            <a:srgbClr val="FCE9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4480560" y="498348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2E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A2E2E"/>
                </a:solidFill>
                <a:latin typeface="Calibri"/>
                <a:ea typeface="Calibri"/>
                <a:cs typeface="Calibri"/>
                <a:sym typeface="Calibri"/>
              </a:rPr>
              <a:t>Directly violates fairness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772400" y="2331720"/>
            <a:ext cx="3429000" cy="3566160"/>
          </a:xfrm>
          <a:prstGeom prst="roundRect">
            <a:avLst>
              <a:gd fmla="val 2667" name="adj"/>
            </a:avLst>
          </a:prstGeom>
          <a:solidFill>
            <a:srgbClr val="2F3C7E"/>
          </a:solidFill>
          <a:ln cap="flat" cmpd="sng" w="12700">
            <a:solidFill>
              <a:srgbClr val="2F3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8001000" y="25603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9E795"/>
                </a:solidFill>
                <a:latin typeface="Cambria"/>
                <a:ea typeface="Cambria"/>
                <a:cs typeface="Cambria"/>
                <a:sym typeface="Cambria"/>
              </a:rPr>
              <a:t>Queue (FIFO)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001000" y="315468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Access:  </a:t>
            </a:r>
            <a:r>
              <a:rPr b="0" i="0" lang="en-US" sz="1250" u="none" cap="none" strike="noStrike">
                <a:solidFill>
                  <a:srgbClr val="E7EBFA"/>
                </a:solidFill>
                <a:latin typeface="Calibri"/>
                <a:ea typeface="Calibri"/>
                <a:cs typeface="Calibri"/>
                <a:sym typeface="Calibri"/>
              </a:rPr>
              <a:t>Insert at rear, remove at front</a:t>
            </a:r>
            <a:br>
              <a:rPr b="0" i="0" lang="en-US" sz="1250" u="none" cap="none" strike="noStrike">
                <a:solidFill>
                  <a:srgbClr val="E7EBFA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50" u="none" cap="none" strike="noStrike">
                <a:solidFill>
                  <a:srgbClr val="E7EB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Order:  </a:t>
            </a:r>
            <a:r>
              <a:rPr b="0" i="0" lang="en-US" sz="1250" u="none" cap="none" strike="noStrike">
                <a:solidFill>
                  <a:srgbClr val="E7EBFA"/>
                </a:solidFill>
                <a:latin typeface="Calibri"/>
                <a:ea typeface="Calibri"/>
                <a:cs typeface="Calibri"/>
                <a:sym typeface="Calibri"/>
              </a:rPr>
              <a:t>First customer in is served first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8001000" y="4937760"/>
            <a:ext cx="2971800" cy="731520"/>
          </a:xfrm>
          <a:prstGeom prst="roundRect">
            <a:avLst>
              <a:gd fmla="val 10000" name="adj"/>
            </a:avLst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8138160" y="498348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Matches the real-world rule exactly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fmla="val 20000" name="adj"/>
            </a:avLst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TECHNICAL CONTENT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57200" y="96012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7293D"/>
                </a:solidFill>
                <a:latin typeface="Cambria"/>
                <a:ea typeface="Cambria"/>
                <a:cs typeface="Cambria"/>
                <a:sym typeface="Cambria"/>
              </a:rPr>
              <a:t>The Queue ADT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57200" y="1600200"/>
            <a:ext cx="65836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A linear Abstract Data Type that follows First-In-First-Out (FIFO) ordering: elements are added at the rear and removed from the front.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2606040"/>
            <a:ext cx="6583680" cy="457200"/>
          </a:xfrm>
          <a:prstGeom prst="roundRect">
            <a:avLst>
              <a:gd fmla="val 12000" name="adj"/>
            </a:avLst>
          </a:prstGeom>
          <a:solidFill>
            <a:srgbClr val="2F3C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640080" y="26060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017520" y="260604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943600" y="260604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3063240"/>
            <a:ext cx="6583680" cy="5029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640080" y="306324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enqueue(x)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017520" y="306324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Adds a new token at the rear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943600" y="306324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7200" y="3566160"/>
            <a:ext cx="6583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640080" y="356616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dequeue()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017520" y="356616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Removes and returns the front token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943600" y="356616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7200" y="4069080"/>
            <a:ext cx="6583680" cy="5029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40080" y="406908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peek() / front()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017520" y="406908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Views the next token without removing 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943600" y="406908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57200" y="4572000"/>
            <a:ext cx="6583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640080" y="457200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isEmpty()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017520" y="457200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Checks if any customer is waiting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943600" y="457200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57200" y="5074920"/>
            <a:ext cx="6583680" cy="50292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40080" y="5074920"/>
            <a:ext cx="2377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isFull()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017520" y="507492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Checks capacity (bounded queue only)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943600" y="5074920"/>
            <a:ext cx="1097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06640" y="1600200"/>
            <a:ext cx="4297680" cy="2011680"/>
          </a:xfrm>
          <a:prstGeom prst="roundRect">
            <a:avLst>
              <a:gd fmla="val 4545" name="adj"/>
            </a:avLst>
          </a:prstGeom>
          <a:solidFill>
            <a:srgbClr val="F7F8FC"/>
          </a:solidFill>
          <a:ln cap="flat" cmpd="sng" w="12700">
            <a:solidFill>
              <a:srgbClr val="E3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589520" y="17373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FIFO 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680960" y="2331720"/>
            <a:ext cx="868680" cy="777240"/>
          </a:xfrm>
          <a:prstGeom prst="rect">
            <a:avLst/>
          </a:prstGeom>
          <a:solidFill>
            <a:srgbClr val="F96167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7680960" y="2331720"/>
            <a:ext cx="868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8549640" y="2331720"/>
            <a:ext cx="868680" cy="777240"/>
          </a:xfrm>
          <a:prstGeom prst="rect">
            <a:avLst/>
          </a:prstGeom>
          <a:solidFill>
            <a:srgbClr val="2F3C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8549640" y="2331720"/>
            <a:ext cx="868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418320" y="2331720"/>
            <a:ext cx="868680" cy="777240"/>
          </a:xfrm>
          <a:prstGeom prst="rect">
            <a:avLst/>
          </a:prstGeom>
          <a:solidFill>
            <a:srgbClr val="2F3C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9418320" y="2331720"/>
            <a:ext cx="868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0287000" y="2331720"/>
            <a:ext cx="868680" cy="777240"/>
          </a:xfrm>
          <a:prstGeom prst="rect">
            <a:avLst/>
          </a:prstGeom>
          <a:solidFill>
            <a:srgbClr val="2F3C7E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10287000" y="2331720"/>
            <a:ext cx="868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589520" y="32004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FRONT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(dequeue)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0104120" y="32004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REAR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(enqueue)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7406640" y="3840480"/>
            <a:ext cx="4297680" cy="1965960"/>
          </a:xfrm>
          <a:prstGeom prst="roundRect">
            <a:avLst>
              <a:gd fmla="val 4651" name="adj"/>
            </a:avLst>
          </a:prstGeom>
          <a:solidFill>
            <a:srgbClr val="2F3C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7589520" y="39776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Why FIFO fits the cafeteria rule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589520" y="434340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7EB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7EBFA"/>
                </a:solidFill>
                <a:latin typeface="Calibri"/>
                <a:ea typeface="Calibri"/>
                <a:cs typeface="Calibri"/>
                <a:sym typeface="Calibri"/>
              </a:rPr>
              <a:t>The token issued earliest sits at the front and is always the first removed — the data structure enforces arrival order automatically, with no extra logic required.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fmla="val 20000" name="adj"/>
            </a:avLst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COMMUNICATION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57200" y="96012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7293D"/>
                </a:solidFill>
                <a:latin typeface="Cambria"/>
                <a:ea typeface="Cambria"/>
                <a:cs typeface="Cambria"/>
                <a:sym typeface="Cambria"/>
              </a:rPr>
              <a:t>From Cafeteria Action to Queue Operation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7200" y="1874520"/>
            <a:ext cx="502920" cy="502920"/>
          </a:xfrm>
          <a:prstGeom prst="roundRect">
            <a:avLst>
              <a:gd fmla="val 49091" name="adj"/>
            </a:avLst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457200" y="1874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188720" y="182880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Customer arrives, takes a token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120640" y="1874520"/>
            <a:ext cx="1965960" cy="502920"/>
          </a:xfrm>
          <a:prstGeom prst="roundRect">
            <a:avLst>
              <a:gd fmla="val 14545" name="adj"/>
            </a:avLst>
          </a:prstGeom>
          <a:solidFill>
            <a:srgbClr val="F7F8FC"/>
          </a:solidFill>
          <a:ln cap="flat" cmpd="sng" w="12700">
            <a:solidFill>
              <a:srgbClr val="2F3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120640" y="187452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enqueue(token)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7315200" y="1828800"/>
            <a:ext cx="4434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Token number joins the rear of the queue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57200" y="2834640"/>
            <a:ext cx="502920" cy="502920"/>
          </a:xfrm>
          <a:prstGeom prst="roundRect">
            <a:avLst>
              <a:gd fmla="val 49091" name="adj"/>
            </a:avLst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188720" y="278892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Counter becomes free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120640" y="2834640"/>
            <a:ext cx="1965960" cy="502920"/>
          </a:xfrm>
          <a:prstGeom prst="roundRect">
            <a:avLst>
              <a:gd fmla="val 14545" name="adj"/>
            </a:avLst>
          </a:prstGeom>
          <a:solidFill>
            <a:srgbClr val="F7F8FC"/>
          </a:solidFill>
          <a:ln cap="flat" cmpd="sng" w="12700">
            <a:solidFill>
              <a:srgbClr val="2F3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120640" y="283464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peek()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7315200" y="2788920"/>
            <a:ext cx="4434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Staff checks which token is next, without removing 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57200" y="3794760"/>
            <a:ext cx="502920" cy="502920"/>
          </a:xfrm>
          <a:prstGeom prst="roundRect">
            <a:avLst>
              <a:gd fmla="val 49091" name="adj"/>
            </a:avLst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188720" y="374904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Customer is called and served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120640" y="3794760"/>
            <a:ext cx="1965960" cy="502920"/>
          </a:xfrm>
          <a:prstGeom prst="roundRect">
            <a:avLst>
              <a:gd fmla="val 14545" name="adj"/>
            </a:avLst>
          </a:prstGeom>
          <a:solidFill>
            <a:srgbClr val="F7F8FC"/>
          </a:solidFill>
          <a:ln cap="flat" cmpd="sng" w="12700">
            <a:solidFill>
              <a:srgbClr val="2F3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5120640" y="379476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dequeue()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315200" y="3749040"/>
            <a:ext cx="4434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front token is removed and displayed on screen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57200" y="4754880"/>
            <a:ext cx="502920" cy="502920"/>
          </a:xfrm>
          <a:prstGeom prst="roundRect">
            <a:avLst>
              <a:gd fmla="val 49091" name="adj"/>
            </a:avLst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57200" y="4754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188720" y="470916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No one is waiting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5120640" y="4754880"/>
            <a:ext cx="1965960" cy="502920"/>
          </a:xfrm>
          <a:prstGeom prst="roundRect">
            <a:avLst>
              <a:gd fmla="val 14545" name="adj"/>
            </a:avLst>
          </a:prstGeom>
          <a:solidFill>
            <a:srgbClr val="F7F8FC"/>
          </a:solidFill>
          <a:ln cap="flat" cmpd="sng" w="12700">
            <a:solidFill>
              <a:srgbClr val="2F3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120640" y="47548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isEmpty()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315200" y="4709160"/>
            <a:ext cx="4434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System shows “no pending tokens” and pauses calling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fmla="val 20000" name="adj"/>
            </a:avLst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USE OF TOOLS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7293D"/>
                </a:solidFill>
                <a:latin typeface="Cambria"/>
                <a:ea typeface="Cambria"/>
                <a:cs typeface="Cambria"/>
                <a:sym typeface="Cambria"/>
              </a:rPr>
              <a:t>Implementing the Queue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57200" y="16002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Two standard ways to realize the Queue ADT in code — the choice depends on how the cafeteria expects daily token volume to behave.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57200" y="2377440"/>
            <a:ext cx="5120640" cy="3108960"/>
          </a:xfrm>
          <a:prstGeom prst="roundRect">
            <a:avLst>
              <a:gd fmla="val 2941" name="adj"/>
            </a:avLst>
          </a:prstGeom>
          <a:solidFill>
            <a:srgbClr val="F7F8FC"/>
          </a:solidFill>
          <a:ln cap="flat" cmpd="sng" w="12700">
            <a:solidFill>
              <a:srgbClr val="E3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731520" y="2606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2F3C7E"/>
                </a:solidFill>
                <a:latin typeface="Cambria"/>
                <a:ea typeface="Cambria"/>
                <a:cs typeface="Cambria"/>
                <a:sym typeface="Cambria"/>
              </a:rPr>
              <a:t>Circular Array Queue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31520" y="3300984"/>
            <a:ext cx="109728" cy="10972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1005840" y="3172968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Fixed-size buffer, reused with modulo indexing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31520" y="3959352"/>
            <a:ext cx="109728" cy="10972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1005840" y="3831336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No pointer/node overhead — cache-friendly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31520" y="4617720"/>
            <a:ext cx="109728" cy="109728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1005840" y="4489704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Capacity must be pre-defined (isFull() matters)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943600" y="2377440"/>
            <a:ext cx="5120640" cy="3108960"/>
          </a:xfrm>
          <a:prstGeom prst="roundRect">
            <a:avLst>
              <a:gd fmla="val 2941" name="adj"/>
            </a:avLst>
          </a:prstGeom>
          <a:solidFill>
            <a:srgbClr val="2F3C7E"/>
          </a:solidFill>
          <a:ln cap="flat" cmpd="sng" w="12700">
            <a:solidFill>
              <a:srgbClr val="2F3C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217920" y="2606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9E795"/>
                </a:solidFill>
                <a:latin typeface="Cambria"/>
                <a:ea typeface="Cambria"/>
                <a:cs typeface="Cambria"/>
                <a:sym typeface="Cambria"/>
              </a:rPr>
              <a:t>Linked List Queue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217920" y="3300984"/>
            <a:ext cx="109728" cy="109728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6492240" y="3172968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B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7EBFA"/>
                </a:solidFill>
                <a:latin typeface="Calibri"/>
                <a:ea typeface="Calibri"/>
                <a:cs typeface="Calibri"/>
                <a:sym typeface="Calibri"/>
              </a:rPr>
              <a:t>Grows and shrinks dynamically, node by node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217920" y="3959352"/>
            <a:ext cx="109728" cy="109728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6492240" y="3831336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B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7EBFA"/>
                </a:solidFill>
                <a:latin typeface="Calibri"/>
                <a:ea typeface="Calibri"/>
                <a:cs typeface="Calibri"/>
                <a:sym typeface="Calibri"/>
              </a:rPr>
              <a:t>No fixed limit on tokens waiting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217920" y="4617720"/>
            <a:ext cx="109728" cy="109728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6492240" y="4489704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BF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7EBFA"/>
                </a:solidFill>
                <a:latin typeface="Calibri"/>
                <a:ea typeface="Calibri"/>
                <a:cs typeface="Calibri"/>
                <a:sym typeface="Calibri"/>
              </a:rPr>
              <a:t>Small extra memory per node for the pointer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57200" y="5623560"/>
            <a:ext cx="10515600" cy="685800"/>
          </a:xfrm>
          <a:prstGeom prst="roundRect">
            <a:avLst>
              <a:gd fmla="val 10667" name="adj"/>
            </a:avLst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640080" y="5623560"/>
            <a:ext cx="10149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Recommended: </a:t>
            </a:r>
            <a:r>
              <a:rPr b="0" i="0" lang="en-US" sz="12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a linked-list-based queue — cafeteria footfall varies by hour, and an unbounded queue avoids ever rejecting a customer for “token counter full.”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fmla="val 20000" name="adj"/>
            </a:avLst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TECHNICAL CONTENT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7293D"/>
                </a:solidFill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457200" y="160020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Every operation the token counter performs runs in constant time — essential when hundreds of tokens are issued per hour.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457200" y="2377440"/>
            <a:ext cx="10607040" cy="502920"/>
          </a:xfrm>
          <a:prstGeom prst="roundRect">
            <a:avLst>
              <a:gd fmla="val 10909" name="adj"/>
            </a:avLst>
          </a:prstGeom>
          <a:solidFill>
            <a:srgbClr val="2F3C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685800" y="237744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4114800" y="237744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126480" y="237744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457200" y="2880360"/>
            <a:ext cx="10607040" cy="62179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685800" y="2880360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enqueue(x)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4114800" y="2880360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126480" y="2880360"/>
            <a:ext cx="4754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New token added directly at the rear pointer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57200" y="3502152"/>
            <a:ext cx="106070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685800" y="3502152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dequeue()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114800" y="3502152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126480" y="3502152"/>
            <a:ext cx="4754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Front pointer advances by one; no shifting of other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457200" y="4123944"/>
            <a:ext cx="10607040" cy="621792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685800" y="4123944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peek()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114800" y="4123944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O(1)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126480" y="4123944"/>
            <a:ext cx="4754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Direct read of the front reference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57200" y="4745736"/>
            <a:ext cx="106070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685800" y="4745736"/>
            <a:ext cx="32004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250"/>
              <a:buFont typeface="Courier New"/>
              <a:buNone/>
            </a:pPr>
            <a:r>
              <a:rPr b="1" i="0" lang="en-US" sz="1250" u="none" cap="none" strike="noStrike">
                <a:solidFill>
                  <a:srgbClr val="2F3C7E"/>
                </a:solidFill>
                <a:latin typeface="Courier New"/>
                <a:ea typeface="Courier New"/>
                <a:cs typeface="Courier New"/>
                <a:sym typeface="Courier New"/>
              </a:rPr>
              <a:t>Overall space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114800" y="4745736"/>
            <a:ext cx="1828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126480" y="4745736"/>
            <a:ext cx="475488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One unit of storage per waiting customer, n = queue length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457200" y="559612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By contrast, a naive array without front/rear pointers would need O(n) shifting on every dequeue — the Queue ADT avoids this entirely.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8"/>
          <p:cNvSpPr/>
          <p:nvPr/>
        </p:nvSpPr>
        <p:spPr>
          <a:xfrm>
            <a:off x="457200" y="411480"/>
            <a:ext cx="2743200" cy="365760"/>
          </a:xfrm>
          <a:prstGeom prst="roundRect">
            <a:avLst>
              <a:gd fmla="val 20000" name="adj"/>
            </a:avLst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457200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F3C7E"/>
                </a:solidFill>
                <a:latin typeface="Calibri"/>
                <a:ea typeface="Calibri"/>
                <a:cs typeface="Calibri"/>
                <a:sym typeface="Calibri"/>
              </a:rPr>
              <a:t>PROBLEM IDENTIFICATION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57200" y="960120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27293D"/>
                </a:solidFill>
                <a:latin typeface="Cambria"/>
                <a:ea typeface="Cambria"/>
                <a:cs typeface="Cambria"/>
                <a:sym typeface="Cambria"/>
              </a:rPr>
              <a:t>Why the Queue Guarantees Fairness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57200" y="1965960"/>
            <a:ext cx="3429000" cy="3291840"/>
          </a:xfrm>
          <a:prstGeom prst="roundRect">
            <a:avLst>
              <a:gd fmla="val 2778" name="adj"/>
            </a:avLst>
          </a:prstGeom>
          <a:solidFill>
            <a:srgbClr val="F7F8FC"/>
          </a:solidFill>
          <a:ln cap="flat" cmpd="sng" w="12700">
            <a:solidFill>
              <a:srgbClr val="E3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731520" y="224028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731520" y="292608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F3C7E"/>
                </a:solidFill>
                <a:latin typeface="Cambria"/>
                <a:ea typeface="Cambria"/>
                <a:cs typeface="Cambria"/>
                <a:sym typeface="Cambria"/>
              </a:rPr>
              <a:t>Order Preservation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731520" y="3429000"/>
            <a:ext cx="2880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FIFO discipline means insertion order and service order are always identical — arrival time IS the priority.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4114800" y="1965960"/>
            <a:ext cx="3429000" cy="3291840"/>
          </a:xfrm>
          <a:prstGeom prst="roundRect">
            <a:avLst>
              <a:gd fmla="val 2778" name="adj"/>
            </a:avLst>
          </a:prstGeom>
          <a:solidFill>
            <a:srgbClr val="F7F8FC"/>
          </a:solidFill>
          <a:ln cap="flat" cmpd="sng" w="12700">
            <a:solidFill>
              <a:srgbClr val="E3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4389120" y="224028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4389120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389120" y="292608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F3C7E"/>
                </a:solidFill>
                <a:latin typeface="Cambria"/>
                <a:ea typeface="Cambria"/>
                <a:cs typeface="Cambria"/>
                <a:sym typeface="Cambria"/>
              </a:rPr>
              <a:t>No Starvation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389120" y="3429000"/>
            <a:ext cx="2880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Every enqueued token is eventually dequeued exactly once; no customer can be skipped indefinitely.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7772400" y="1965960"/>
            <a:ext cx="3429000" cy="3291840"/>
          </a:xfrm>
          <a:prstGeom prst="roundRect">
            <a:avLst>
              <a:gd fmla="val 2778" name="adj"/>
            </a:avLst>
          </a:prstGeom>
          <a:solidFill>
            <a:srgbClr val="F7F8FC"/>
          </a:solidFill>
          <a:ln cap="flat" cmpd="sng" w="12700">
            <a:solidFill>
              <a:srgbClr val="E3E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8046720" y="2240280"/>
            <a:ext cx="548640" cy="548640"/>
          </a:xfrm>
          <a:prstGeom prst="ellipse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8046720" y="22402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8046720" y="292608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3C7E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2F3C7E"/>
                </a:solidFill>
                <a:latin typeface="Cambria"/>
                <a:ea typeface="Cambria"/>
                <a:cs typeface="Cambria"/>
                <a:sym typeface="Cambria"/>
              </a:rPr>
              <a:t>Predictable Waiting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8046720" y="3429000"/>
            <a:ext cx="28803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93D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7293D"/>
                </a:solidFill>
                <a:latin typeface="Calibri"/>
                <a:ea typeface="Calibri"/>
                <a:cs typeface="Calibri"/>
                <a:sym typeface="Calibri"/>
              </a:rPr>
              <a:t>A customer's wait is proportional to their position in line, so wait times are transparent and explainable.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3C7E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/>
          <p:nvPr/>
        </p:nvSpPr>
        <p:spPr>
          <a:xfrm>
            <a:off x="822960" y="1188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E79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E795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822960" y="1600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The Queue ADT is the Correct Fit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822960" y="2889504"/>
            <a:ext cx="146304" cy="146304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1188720" y="274320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BF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7EBFA"/>
                </a:solidFill>
                <a:latin typeface="Calibri"/>
                <a:ea typeface="Calibri"/>
                <a:cs typeface="Calibri"/>
                <a:sym typeface="Calibri"/>
              </a:rPr>
              <a:t>Matches the required behaviour exactly: FIFO order = arrival order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822960" y="3483864"/>
            <a:ext cx="146304" cy="146304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188720" y="333756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BF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7EBFA"/>
                </a:solidFill>
                <a:latin typeface="Calibri"/>
                <a:ea typeface="Calibri"/>
                <a:cs typeface="Calibri"/>
                <a:sym typeface="Calibri"/>
              </a:rPr>
              <a:t>Constant-time enqueue / dequeue keeps the counter responsive at peak hours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22960" y="4078224"/>
            <a:ext cx="146304" cy="146304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1188720" y="393192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BF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7EBFA"/>
                </a:solidFill>
                <a:latin typeface="Calibri"/>
                <a:ea typeface="Calibri"/>
                <a:cs typeface="Calibri"/>
                <a:sym typeface="Calibri"/>
              </a:rPr>
              <a:t>A linked-list implementation scales with unpredictable footfall, with O(n) space overall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22960" y="4672584"/>
            <a:ext cx="146304" cy="146304"/>
          </a:xfrm>
          <a:prstGeom prst="ellipse">
            <a:avLst/>
          </a:prstGeom>
          <a:solidFill>
            <a:srgbClr val="F9E7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9"/>
          <p:cNvSpPr/>
          <p:nvPr/>
        </p:nvSpPr>
        <p:spPr>
          <a:xfrm>
            <a:off x="1188720" y="452628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BF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E7EBFA"/>
                </a:solidFill>
                <a:latin typeface="Calibri"/>
                <a:ea typeface="Calibri"/>
                <a:cs typeface="Calibri"/>
                <a:sym typeface="Calibri"/>
              </a:rPr>
              <a:t>Built-in ordering removes the need for extra fairness logic elsewhere in the system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-1463040" y="4572000"/>
            <a:ext cx="4023300" cy="4023300"/>
          </a:xfrm>
          <a:prstGeom prst="ellipse">
            <a:avLst/>
          </a:prstGeom>
          <a:solidFill>
            <a:srgbClr val="F9E795">
              <a:alpha val="1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3C7E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525abad07_0_0"/>
          <p:cNvSpPr txBox="1"/>
          <p:nvPr/>
        </p:nvSpPr>
        <p:spPr>
          <a:xfrm>
            <a:off x="4999800" y="3059550"/>
            <a:ext cx="2192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F9E795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i="1" sz="3600">
              <a:solidFill>
                <a:srgbClr val="F9E795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67" name="Google Shape;267;g3f525abad07_0_0"/>
          <p:cNvSpPr/>
          <p:nvPr/>
        </p:nvSpPr>
        <p:spPr>
          <a:xfrm>
            <a:off x="-1280160" y="-1463040"/>
            <a:ext cx="4572000" cy="4572000"/>
          </a:xfrm>
          <a:prstGeom prst="ellipse">
            <a:avLst/>
          </a:prstGeom>
          <a:solidFill>
            <a:srgbClr val="F96167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2026-07-14T19:21:45Z</dcterms:created>
  <dc:creator>PptxGenJS</dc:creator>
</cp:coreProperties>
</file>